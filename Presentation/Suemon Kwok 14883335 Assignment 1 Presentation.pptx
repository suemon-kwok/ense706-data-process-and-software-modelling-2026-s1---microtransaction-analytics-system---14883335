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67" r:id="rId4"/>
    <p:sldId id="270" r:id="rId5"/>
    <p:sldId id="258" r:id="rId6"/>
    <p:sldId id="260" r:id="rId7"/>
    <p:sldId id="269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73108E-07A6-4C23-8C06-ADC3438EDAA4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E8638-4867-436E-B658-6932E54BD66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61261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C2E1-D783-4B11-BAA3-36093F02C57B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0889-4985-4832-AB53-BA49F947ED9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38286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C2E1-D783-4B11-BAA3-36093F02C57B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0889-4985-4832-AB53-BA49F947ED9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52409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C2E1-D783-4B11-BAA3-36093F02C57B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0889-4985-4832-AB53-BA49F947ED9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97412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C2E1-D783-4B11-BAA3-36093F02C57B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0889-4985-4832-AB53-BA49F947ED9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48897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C2E1-D783-4B11-BAA3-36093F02C57B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0889-4985-4832-AB53-BA49F947ED9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97697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C2E1-D783-4B11-BAA3-36093F02C57B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0889-4985-4832-AB53-BA49F947ED9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41264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C2E1-D783-4B11-BAA3-36093F02C57B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0889-4985-4832-AB53-BA49F947ED9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78573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C2E1-D783-4B11-BAA3-36093F02C57B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0889-4985-4832-AB53-BA49F947ED9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73465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C2E1-D783-4B11-BAA3-36093F02C57B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0889-4985-4832-AB53-BA49F947ED9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88463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C2E1-D783-4B11-BAA3-36093F02C57B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0889-4985-4832-AB53-BA49F947ED9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85965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C2E1-D783-4B11-BAA3-36093F02C57B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0889-4985-4832-AB53-BA49F947ED91}" type="slidenum">
              <a:rPr lang="en-NZ" smtClean="0"/>
              <a:t>‹#›</a:t>
            </a:fld>
            <a:endParaRPr lang="en-NZ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9203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C2E1-D783-4B11-BAA3-36093F02C57B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0889-4985-4832-AB53-BA49F947ED9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944696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C2E1-D783-4B11-BAA3-36093F02C57B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0889-4985-4832-AB53-BA49F947ED91}" type="slidenum">
              <a:rPr lang="en-NZ" smtClean="0"/>
              <a:t>‹#›</a:t>
            </a:fld>
            <a:endParaRPr lang="en-NZ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8972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C2E1-D783-4B11-BAA3-36093F02C57B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0889-4985-4832-AB53-BA49F947ED9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773723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C2E1-D783-4B11-BAA3-36093F02C57B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0889-4985-4832-AB53-BA49F947ED9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78431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C2E1-D783-4B11-BAA3-36093F02C57B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0889-4985-4832-AB53-BA49F947ED9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8987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7637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0C2E1-D783-4B11-BAA3-36093F02C57B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7AB0889-4985-4832-AB53-BA49F947ED9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30476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11D9E-DF31-B7BF-03B2-1545A7707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8467" y="310558"/>
            <a:ext cx="7766936" cy="1646302"/>
          </a:xfrm>
        </p:spPr>
        <p:txBody>
          <a:bodyPr/>
          <a:lstStyle/>
          <a:p>
            <a:pPr algn="ctr"/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Organisation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1380F0-9FA6-ECCA-5375-0D629F4DA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2229423"/>
            <a:ext cx="6903719" cy="3867883"/>
          </a:xfrm>
          <a:prstGeom prst="rect">
            <a:avLst/>
          </a:prstGeom>
        </p:spPr>
      </p:pic>
      <p:sp>
        <p:nvSpPr>
          <p:cNvPr id="7" name="Text 70">
            <a:extLst>
              <a:ext uri="{FF2B5EF4-FFF2-40B4-BE49-F238E27FC236}">
                <a16:creationId xmlns:a16="http://schemas.microsoft.com/office/drawing/2014/main" id="{15E34470-8BB5-B911-DB74-197EBCE92956}"/>
              </a:ext>
            </a:extLst>
          </p:cNvPr>
          <p:cNvSpPr/>
          <p:nvPr/>
        </p:nvSpPr>
        <p:spPr>
          <a:xfrm>
            <a:off x="365760" y="6522720"/>
            <a:ext cx="1146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Suemon Kwok  |  Student ID: 14883335  |  Assignment 1 Presentation</a:t>
            </a:r>
            <a:endParaRPr lang="en-US" sz="1067" dirty="0"/>
          </a:p>
        </p:txBody>
      </p:sp>
    </p:spTree>
    <p:extLst>
      <p:ext uri="{BB962C8B-B14F-4D97-AF65-F5344CB8AC3E}">
        <p14:creationId xmlns:p14="http://schemas.microsoft.com/office/powerpoint/2010/main" val="1561787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466D7-F1A1-18EF-0D05-52449EEC7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560AE-08A1-0449-C6C6-BAC0B0C2F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that tracks highest microtransactions sales</a:t>
            </a:r>
          </a:p>
          <a:p>
            <a:endParaRPr lang="en-N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NZ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various cosmetics items for character classes, weapons, armour etc</a:t>
            </a:r>
          </a:p>
          <a:p>
            <a:endParaRPr lang="en-N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N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the demographics and region</a:t>
            </a:r>
          </a:p>
          <a:p>
            <a:endParaRPr lang="en-N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N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Underperforming statistics</a:t>
            </a:r>
          </a:p>
          <a:p>
            <a:endParaRPr lang="en-NZ" dirty="0"/>
          </a:p>
          <a:p>
            <a:endParaRPr lang="en-NZ" dirty="0"/>
          </a:p>
        </p:txBody>
      </p:sp>
      <p:sp>
        <p:nvSpPr>
          <p:cNvPr id="5" name="Text 70">
            <a:extLst>
              <a:ext uri="{FF2B5EF4-FFF2-40B4-BE49-F238E27FC236}">
                <a16:creationId xmlns:a16="http://schemas.microsoft.com/office/drawing/2014/main" id="{2422B440-80B6-56E9-23C5-2651B002A4A0}"/>
              </a:ext>
            </a:extLst>
          </p:cNvPr>
          <p:cNvSpPr/>
          <p:nvPr/>
        </p:nvSpPr>
        <p:spPr>
          <a:xfrm>
            <a:off x="365760" y="6522720"/>
            <a:ext cx="1146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Suemon Kwok  |  Student ID: 14883335  |  Assignment 1 Presentation</a:t>
            </a:r>
            <a:endParaRPr lang="en-US" sz="1067" dirty="0"/>
          </a:p>
        </p:txBody>
      </p:sp>
    </p:spTree>
    <p:extLst>
      <p:ext uri="{BB962C8B-B14F-4D97-AF65-F5344CB8AC3E}">
        <p14:creationId xmlns:p14="http://schemas.microsoft.com/office/powerpoint/2010/main" val="2458877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97536"/>
            <a:ext cx="7315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N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Functional and non requirements </a:t>
            </a:r>
            <a:endParaRPr lang="en-US" sz="3467" dirty="0"/>
          </a:p>
        </p:txBody>
      </p:sp>
      <p:sp>
        <p:nvSpPr>
          <p:cNvPr id="8" name="Text 6"/>
          <p:cNvSpPr/>
          <p:nvPr/>
        </p:nvSpPr>
        <p:spPr>
          <a:xfrm>
            <a:off x="365760" y="1158240"/>
            <a:ext cx="55473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1865376"/>
            <a:ext cx="670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FR01</a:t>
            </a:r>
            <a:endParaRPr lang="en-US" sz="1133" dirty="0"/>
          </a:p>
        </p:txBody>
      </p:sp>
      <p:sp>
        <p:nvSpPr>
          <p:cNvPr id="13" name="Text 11"/>
          <p:cNvSpPr/>
          <p:nvPr/>
        </p:nvSpPr>
        <p:spPr>
          <a:xfrm>
            <a:off x="1292352" y="1816608"/>
            <a:ext cx="44500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Capture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1292352" y="2133600"/>
            <a:ext cx="445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Records every purchase with item ID, price, timestamp, and player account</a:t>
            </a:r>
            <a:endParaRPr lang="en-US" sz="1133" dirty="0"/>
          </a:p>
        </p:txBody>
      </p:sp>
      <p:sp>
        <p:nvSpPr>
          <p:cNvPr id="18" name="Text 16"/>
          <p:cNvSpPr/>
          <p:nvPr/>
        </p:nvSpPr>
        <p:spPr>
          <a:xfrm>
            <a:off x="548640" y="2804160"/>
            <a:ext cx="670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FR09</a:t>
            </a:r>
            <a:endParaRPr lang="en-US" sz="1133" dirty="0"/>
          </a:p>
        </p:txBody>
      </p:sp>
      <p:sp>
        <p:nvSpPr>
          <p:cNvPr id="19" name="Text 17"/>
          <p:cNvSpPr/>
          <p:nvPr/>
        </p:nvSpPr>
        <p:spPr>
          <a:xfrm>
            <a:off x="1292352" y="2755392"/>
            <a:ext cx="44500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Reports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1292352" y="3072384"/>
            <a:ext cx="445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Reports filterable by date range, region, item type, and character class</a:t>
            </a:r>
            <a:endParaRPr lang="en-US" sz="1133" dirty="0"/>
          </a:p>
        </p:txBody>
      </p:sp>
      <p:sp>
        <p:nvSpPr>
          <p:cNvPr id="24" name="Text 22"/>
          <p:cNvSpPr/>
          <p:nvPr/>
        </p:nvSpPr>
        <p:spPr>
          <a:xfrm>
            <a:off x="548640" y="3742944"/>
            <a:ext cx="670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FR11</a:t>
            </a:r>
            <a:endParaRPr lang="en-US" sz="1133" dirty="0"/>
          </a:p>
        </p:txBody>
      </p:sp>
      <p:sp>
        <p:nvSpPr>
          <p:cNvPr id="25" name="Text 23"/>
          <p:cNvSpPr/>
          <p:nvPr/>
        </p:nvSpPr>
        <p:spPr>
          <a:xfrm>
            <a:off x="1292352" y="3694176"/>
            <a:ext cx="44500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Underperformance Flags</a:t>
            </a:r>
            <a:endParaRPr lang="en-US" sz="1467" dirty="0"/>
          </a:p>
        </p:txBody>
      </p:sp>
      <p:sp>
        <p:nvSpPr>
          <p:cNvPr id="26" name="Text 24"/>
          <p:cNvSpPr/>
          <p:nvPr/>
        </p:nvSpPr>
        <p:spPr>
          <a:xfrm>
            <a:off x="1292352" y="4011168"/>
            <a:ext cx="445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flags items whose sales fall below a configurable threshold</a:t>
            </a:r>
            <a:endParaRPr lang="en-US" sz="1133" dirty="0"/>
          </a:p>
        </p:txBody>
      </p:sp>
      <p:sp>
        <p:nvSpPr>
          <p:cNvPr id="30" name="Text 28"/>
          <p:cNvSpPr/>
          <p:nvPr/>
        </p:nvSpPr>
        <p:spPr>
          <a:xfrm>
            <a:off x="548640" y="4681728"/>
            <a:ext cx="670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FR12</a:t>
            </a:r>
            <a:endParaRPr lang="en-US" sz="1133" dirty="0"/>
          </a:p>
        </p:txBody>
      </p:sp>
      <p:sp>
        <p:nvSpPr>
          <p:cNvPr id="31" name="Text 29"/>
          <p:cNvSpPr/>
          <p:nvPr/>
        </p:nvSpPr>
        <p:spPr>
          <a:xfrm>
            <a:off x="1292352" y="4632960"/>
            <a:ext cx="44500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Export (CSV / PDF / JSON)</a:t>
            </a:r>
            <a:endParaRPr lang="en-US" sz="1467" dirty="0"/>
          </a:p>
        </p:txBody>
      </p:sp>
      <p:sp>
        <p:nvSpPr>
          <p:cNvPr id="32" name="Text 30"/>
          <p:cNvSpPr/>
          <p:nvPr/>
        </p:nvSpPr>
        <p:spPr>
          <a:xfrm>
            <a:off x="1292352" y="4949952"/>
            <a:ext cx="445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Authorised users can export report data in three formats for downstream use</a:t>
            </a:r>
            <a:endParaRPr lang="en-US" sz="1133" dirty="0"/>
          </a:p>
        </p:txBody>
      </p:sp>
      <p:sp>
        <p:nvSpPr>
          <p:cNvPr id="36" name="Text 34"/>
          <p:cNvSpPr/>
          <p:nvPr/>
        </p:nvSpPr>
        <p:spPr>
          <a:xfrm>
            <a:off x="548640" y="5620512"/>
            <a:ext cx="670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FR13</a:t>
            </a:r>
            <a:endParaRPr lang="en-US" sz="1133" dirty="0"/>
          </a:p>
        </p:txBody>
      </p:sp>
      <p:sp>
        <p:nvSpPr>
          <p:cNvPr id="37" name="Text 35"/>
          <p:cNvSpPr/>
          <p:nvPr/>
        </p:nvSpPr>
        <p:spPr>
          <a:xfrm>
            <a:off x="1292352" y="5571744"/>
            <a:ext cx="44500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67" dirty="0"/>
          </a:p>
        </p:txBody>
      </p:sp>
      <p:sp>
        <p:nvSpPr>
          <p:cNvPr id="38" name="Text 36"/>
          <p:cNvSpPr/>
          <p:nvPr/>
        </p:nvSpPr>
        <p:spPr>
          <a:xfrm>
            <a:off x="1292352" y="5888736"/>
            <a:ext cx="445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Four roles — Analyst, Marketing, Finance, Developer — with tailored permissions</a:t>
            </a:r>
            <a:endParaRPr lang="en-US" sz="1133" dirty="0"/>
          </a:p>
        </p:txBody>
      </p:sp>
      <p:sp>
        <p:nvSpPr>
          <p:cNvPr id="40" name="Text 38"/>
          <p:cNvSpPr/>
          <p:nvPr/>
        </p:nvSpPr>
        <p:spPr>
          <a:xfrm>
            <a:off x="6278880" y="1158240"/>
            <a:ext cx="55473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61760" y="1865376"/>
            <a:ext cx="792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NFR01</a:t>
            </a:r>
            <a:endParaRPr lang="en-US" sz="1133" dirty="0"/>
          </a:p>
        </p:txBody>
      </p:sp>
      <p:sp>
        <p:nvSpPr>
          <p:cNvPr id="45" name="Text 43"/>
          <p:cNvSpPr/>
          <p:nvPr/>
        </p:nvSpPr>
        <p:spPr>
          <a:xfrm>
            <a:off x="7339584" y="1816608"/>
            <a:ext cx="43281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67" dirty="0"/>
          </a:p>
        </p:txBody>
      </p:sp>
      <p:sp>
        <p:nvSpPr>
          <p:cNvPr id="46" name="Text 44"/>
          <p:cNvSpPr/>
          <p:nvPr/>
        </p:nvSpPr>
        <p:spPr>
          <a:xfrm>
            <a:off x="7339584" y="2133600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Each purchase event processed and stored within 2 seconds of completion</a:t>
            </a:r>
            <a:endParaRPr lang="en-US" sz="1133" dirty="0"/>
          </a:p>
        </p:txBody>
      </p:sp>
      <p:sp>
        <p:nvSpPr>
          <p:cNvPr id="50" name="Text 48"/>
          <p:cNvSpPr/>
          <p:nvPr/>
        </p:nvSpPr>
        <p:spPr>
          <a:xfrm>
            <a:off x="6461760" y="2804160"/>
            <a:ext cx="792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NFR03</a:t>
            </a:r>
            <a:endParaRPr lang="en-US" sz="1133" dirty="0"/>
          </a:p>
        </p:txBody>
      </p:sp>
      <p:sp>
        <p:nvSpPr>
          <p:cNvPr id="51" name="Text 49"/>
          <p:cNvSpPr/>
          <p:nvPr/>
        </p:nvSpPr>
        <p:spPr>
          <a:xfrm>
            <a:off x="7339584" y="2755392"/>
            <a:ext cx="43281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Legal / Privacy</a:t>
            </a:r>
            <a:endParaRPr lang="en-US" sz="1467" dirty="0"/>
          </a:p>
        </p:txBody>
      </p:sp>
      <p:sp>
        <p:nvSpPr>
          <p:cNvPr id="52" name="Text 50"/>
          <p:cNvSpPr/>
          <p:nvPr/>
        </p:nvSpPr>
        <p:spPr>
          <a:xfrm>
            <a:off x="7339584" y="3072384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All player data collected and stored in compliance with the NZ Privacy Act 2020</a:t>
            </a:r>
            <a:endParaRPr lang="en-US" sz="1133" dirty="0"/>
          </a:p>
        </p:txBody>
      </p:sp>
      <p:sp>
        <p:nvSpPr>
          <p:cNvPr id="56" name="Text 54"/>
          <p:cNvSpPr/>
          <p:nvPr/>
        </p:nvSpPr>
        <p:spPr>
          <a:xfrm>
            <a:off x="6461760" y="3742944"/>
            <a:ext cx="792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NFR04</a:t>
            </a:r>
            <a:endParaRPr lang="en-US" sz="1133" dirty="0"/>
          </a:p>
        </p:txBody>
      </p:sp>
      <p:sp>
        <p:nvSpPr>
          <p:cNvPr id="57" name="Text 55"/>
          <p:cNvSpPr/>
          <p:nvPr/>
        </p:nvSpPr>
        <p:spPr>
          <a:xfrm>
            <a:off x="7339584" y="3694176"/>
            <a:ext cx="43281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67" dirty="0"/>
          </a:p>
        </p:txBody>
      </p:sp>
      <p:sp>
        <p:nvSpPr>
          <p:cNvPr id="58" name="Text 56"/>
          <p:cNvSpPr/>
          <p:nvPr/>
        </p:nvSpPr>
        <p:spPr>
          <a:xfrm>
            <a:off x="7339584" y="4011168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System supports a minimum of 50 concurrent internal users without performance degradation</a:t>
            </a:r>
            <a:endParaRPr lang="en-US" sz="1133" dirty="0"/>
          </a:p>
        </p:txBody>
      </p:sp>
      <p:sp>
        <p:nvSpPr>
          <p:cNvPr id="62" name="Text 60"/>
          <p:cNvSpPr/>
          <p:nvPr/>
        </p:nvSpPr>
        <p:spPr>
          <a:xfrm>
            <a:off x="6461760" y="4681728"/>
            <a:ext cx="792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NFR05</a:t>
            </a:r>
            <a:endParaRPr lang="en-US" sz="1133" dirty="0"/>
          </a:p>
        </p:txBody>
      </p:sp>
      <p:sp>
        <p:nvSpPr>
          <p:cNvPr id="63" name="Text 61"/>
          <p:cNvSpPr/>
          <p:nvPr/>
        </p:nvSpPr>
        <p:spPr>
          <a:xfrm>
            <a:off x="7339584" y="4632960"/>
            <a:ext cx="43281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Speed</a:t>
            </a:r>
            <a:endParaRPr lang="en-US" sz="1467" dirty="0"/>
          </a:p>
        </p:txBody>
      </p:sp>
      <p:sp>
        <p:nvSpPr>
          <p:cNvPr id="64" name="Text 62"/>
          <p:cNvSpPr/>
          <p:nvPr/>
        </p:nvSpPr>
        <p:spPr>
          <a:xfrm>
            <a:off x="7339584" y="4949952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Reports render within 3 seconds when querying datasets of up to 1,000,000 records</a:t>
            </a:r>
            <a:endParaRPr lang="en-US" sz="1133" dirty="0"/>
          </a:p>
        </p:txBody>
      </p:sp>
      <p:sp>
        <p:nvSpPr>
          <p:cNvPr id="68" name="Text 66"/>
          <p:cNvSpPr/>
          <p:nvPr/>
        </p:nvSpPr>
        <p:spPr>
          <a:xfrm>
            <a:off x="6461760" y="5620512"/>
            <a:ext cx="792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NFR06</a:t>
            </a:r>
            <a:endParaRPr lang="en-US" sz="1133" dirty="0"/>
          </a:p>
        </p:txBody>
      </p:sp>
      <p:sp>
        <p:nvSpPr>
          <p:cNvPr id="69" name="Text 67"/>
          <p:cNvSpPr/>
          <p:nvPr/>
        </p:nvSpPr>
        <p:spPr>
          <a:xfrm>
            <a:off x="7339584" y="5571744"/>
            <a:ext cx="43281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467" dirty="0"/>
          </a:p>
        </p:txBody>
      </p:sp>
      <p:sp>
        <p:nvSpPr>
          <p:cNvPr id="70" name="Text 68"/>
          <p:cNvSpPr/>
          <p:nvPr/>
        </p:nvSpPr>
        <p:spPr>
          <a:xfrm>
            <a:off x="7339584" y="5888736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Interface operable without formal training by staff familiar with standard dashboards</a:t>
            </a:r>
            <a:endParaRPr lang="en-US" sz="1133" dirty="0"/>
          </a:p>
        </p:txBody>
      </p:sp>
      <p:sp>
        <p:nvSpPr>
          <p:cNvPr id="2" name="Text 70">
            <a:extLst>
              <a:ext uri="{FF2B5EF4-FFF2-40B4-BE49-F238E27FC236}">
                <a16:creationId xmlns:a16="http://schemas.microsoft.com/office/drawing/2014/main" id="{4B2DDD1C-8A5E-A05A-1FA0-DF5A4EEA2BCC}"/>
              </a:ext>
            </a:extLst>
          </p:cNvPr>
          <p:cNvSpPr/>
          <p:nvPr/>
        </p:nvSpPr>
        <p:spPr>
          <a:xfrm>
            <a:off x="365760" y="6522720"/>
            <a:ext cx="1146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Suemon Kwok  |  Student ID: 14883335  |  Assignment 1 Presentation</a:t>
            </a:r>
            <a:endParaRPr lang="en-US" sz="106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97536"/>
            <a:ext cx="7315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N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Remaining Functional and Non-Functional Requirements</a:t>
            </a:r>
            <a:endParaRPr lang="en-US" sz="3467" dirty="0"/>
          </a:p>
        </p:txBody>
      </p:sp>
      <p:sp>
        <p:nvSpPr>
          <p:cNvPr id="8" name="Text 6"/>
          <p:cNvSpPr/>
          <p:nvPr/>
        </p:nvSpPr>
        <p:spPr>
          <a:xfrm>
            <a:off x="365760" y="1158240"/>
            <a:ext cx="55473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latin typeface="Calibri" pitchFamily="34" charset="0"/>
              </a:rPr>
              <a:t>Functional Requirements (Remaining)</a:t>
            </a:r>
          </a:p>
        </p:txBody>
      </p:sp>
      <p:sp>
        <p:nvSpPr>
          <p:cNvPr id="10" name="FR02id"/>
          <p:cNvSpPr/>
          <p:nvPr/>
        </p:nvSpPr>
        <p:spPr>
          <a:xfrm>
            <a:off x="548640" y="1750000"/>
            <a:ext cx="670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latin typeface="Calibri" pitchFamily="34" charset="0"/>
              </a:rPr>
              <a:t>FR02</a:t>
            </a:r>
          </a:p>
        </p:txBody>
      </p:sp>
      <p:sp>
        <p:nvSpPr>
          <p:cNvPr id="11" name="FR02title"/>
          <p:cNvSpPr/>
          <p:nvPr/>
        </p:nvSpPr>
        <p:spPr>
          <a:xfrm>
            <a:off x="1292352" y="1700000"/>
            <a:ext cx="44500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latin typeface="Calibri" pitchFamily="34" charset="0"/>
              </a:rPr>
              <a:t>Item Categorisation</a:t>
            </a:r>
          </a:p>
        </p:txBody>
      </p:sp>
      <p:sp>
        <p:nvSpPr>
          <p:cNvPr id="12" name="FR02desc"/>
          <p:cNvSpPr/>
          <p:nvPr/>
        </p:nvSpPr>
        <p:spPr>
          <a:xfrm>
            <a:off x="1292352" y="2017000"/>
            <a:ext cx="445008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latin typeface="Calibri" pitchFamily="34" charset="0"/>
              </a:rPr>
              <a:t>Categorises each purchase by item type: weapon skins, armour, pets, portal effects, hideout, stash tabs</a:t>
            </a:r>
          </a:p>
        </p:txBody>
      </p:sp>
      <p:sp>
        <p:nvSpPr>
          <p:cNvPr id="13" name="FR03id"/>
          <p:cNvSpPr/>
          <p:nvPr/>
        </p:nvSpPr>
        <p:spPr>
          <a:xfrm>
            <a:off x="548640" y="2420000"/>
            <a:ext cx="670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latin typeface="Calibri" pitchFamily="34" charset="0"/>
              </a:rPr>
              <a:t>FR03</a:t>
            </a:r>
          </a:p>
        </p:txBody>
      </p:sp>
      <p:sp>
        <p:nvSpPr>
          <p:cNvPr id="14" name="FR03title"/>
          <p:cNvSpPr/>
          <p:nvPr/>
        </p:nvSpPr>
        <p:spPr>
          <a:xfrm>
            <a:off x="1292352" y="2370000"/>
            <a:ext cx="44500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latin typeface="Calibri" pitchFamily="34" charset="0"/>
              </a:rPr>
              <a:t>Character Class Tracking</a:t>
            </a:r>
          </a:p>
        </p:txBody>
      </p:sp>
      <p:sp>
        <p:nvSpPr>
          <p:cNvPr id="15" name="FR03desc"/>
          <p:cNvSpPr/>
          <p:nvPr/>
        </p:nvSpPr>
        <p:spPr>
          <a:xfrm>
            <a:off x="1292352" y="2687000"/>
            <a:ext cx="445008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latin typeface="Calibri" pitchFamily="34" charset="0"/>
              </a:rPr>
              <a:t>Records the character class active at time of purchase to enable class-correlated sales analysis</a:t>
            </a:r>
          </a:p>
        </p:txBody>
      </p:sp>
      <p:sp>
        <p:nvSpPr>
          <p:cNvPr id="16" name="FR05id"/>
          <p:cNvSpPr/>
          <p:nvPr/>
        </p:nvSpPr>
        <p:spPr>
          <a:xfrm>
            <a:off x="548640" y="3070000"/>
            <a:ext cx="670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latin typeface="Calibri" pitchFamily="34" charset="0"/>
              </a:rPr>
              <a:t>FR05</a:t>
            </a:r>
          </a:p>
        </p:txBody>
      </p:sp>
      <p:sp>
        <p:nvSpPr>
          <p:cNvPr id="17" name="FR05title"/>
          <p:cNvSpPr/>
          <p:nvPr/>
        </p:nvSpPr>
        <p:spPr>
          <a:xfrm>
            <a:off x="1292352" y="3020000"/>
            <a:ext cx="44500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latin typeface="Calibri" pitchFamily="34" charset="0"/>
              </a:rPr>
              <a:t>Bundle vs Individual Tracking</a:t>
            </a:r>
          </a:p>
        </p:txBody>
      </p:sp>
      <p:sp>
        <p:nvSpPr>
          <p:cNvPr id="18" name="FR05desc"/>
          <p:cNvSpPr/>
          <p:nvPr/>
        </p:nvSpPr>
        <p:spPr>
          <a:xfrm>
            <a:off x="1292352" y="3337000"/>
            <a:ext cx="445008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latin typeface="Calibri" pitchFamily="34" charset="0"/>
              </a:rPr>
              <a:t>Distinguishes bundle purchases from individual item purchases, recording each transaction type separately</a:t>
            </a:r>
          </a:p>
        </p:txBody>
      </p:sp>
      <p:sp>
        <p:nvSpPr>
          <p:cNvPr id="19" name="FR06id"/>
          <p:cNvSpPr/>
          <p:nvPr/>
        </p:nvSpPr>
        <p:spPr>
          <a:xfrm>
            <a:off x="548640" y="3720000"/>
            <a:ext cx="670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latin typeface="Calibri" pitchFamily="34" charset="0"/>
              </a:rPr>
              <a:t>FR06</a:t>
            </a:r>
          </a:p>
        </p:txBody>
      </p:sp>
      <p:sp>
        <p:nvSpPr>
          <p:cNvPr id="20" name="FR06title"/>
          <p:cNvSpPr/>
          <p:nvPr/>
        </p:nvSpPr>
        <p:spPr>
          <a:xfrm>
            <a:off x="1292352" y="3670000"/>
            <a:ext cx="44500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latin typeface="Calibri" pitchFamily="34" charset="0"/>
              </a:rPr>
              <a:t>Regional Purchase Data</a:t>
            </a:r>
          </a:p>
        </p:txBody>
      </p:sp>
      <p:sp>
        <p:nvSpPr>
          <p:cNvPr id="21" name="FR06desc"/>
          <p:cNvSpPr/>
          <p:nvPr/>
        </p:nvSpPr>
        <p:spPr>
          <a:xfrm>
            <a:off x="1292352" y="3987000"/>
            <a:ext cx="445008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latin typeface="Calibri" pitchFamily="34" charset="0"/>
              </a:rPr>
              <a:t>Records player geographic region at time of purchase to facilitate regional sales analysis</a:t>
            </a:r>
          </a:p>
        </p:txBody>
      </p:sp>
      <p:sp>
        <p:nvSpPr>
          <p:cNvPr id="22" name="FR07id"/>
          <p:cNvSpPr/>
          <p:nvPr/>
        </p:nvSpPr>
        <p:spPr>
          <a:xfrm>
            <a:off x="548640" y="4370000"/>
            <a:ext cx="670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latin typeface="Calibri" pitchFamily="34" charset="0"/>
              </a:rPr>
              <a:t>FR07</a:t>
            </a:r>
          </a:p>
        </p:txBody>
      </p:sp>
      <p:sp>
        <p:nvSpPr>
          <p:cNvPr id="23" name="FR07title"/>
          <p:cNvSpPr/>
          <p:nvPr/>
        </p:nvSpPr>
        <p:spPr>
          <a:xfrm>
            <a:off x="1292352" y="4320000"/>
            <a:ext cx="44500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latin typeface="Calibri" pitchFamily="34" charset="0"/>
              </a:rPr>
              <a:t>Spending Tier Classification</a:t>
            </a:r>
          </a:p>
        </p:txBody>
      </p:sp>
      <p:sp>
        <p:nvSpPr>
          <p:cNvPr id="24" name="FR07desc"/>
          <p:cNvSpPr/>
          <p:nvPr/>
        </p:nvSpPr>
        <p:spPr>
          <a:xfrm>
            <a:off x="1292352" y="4637000"/>
            <a:ext cx="445008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latin typeface="Calibri" pitchFamily="34" charset="0"/>
              </a:rPr>
              <a:t>Classifies players as Casual (&lt;$50), Regular ($50-$200), or High-Value (&gt;$200) by lifetime spend | FR08: Tracks repeat vs first-time buyers per item</a:t>
            </a:r>
          </a:p>
        </p:txBody>
      </p:sp>
      <p:sp>
        <p:nvSpPr>
          <p:cNvPr id="25" name="FR14id"/>
          <p:cNvSpPr/>
          <p:nvPr/>
        </p:nvSpPr>
        <p:spPr>
          <a:xfrm>
            <a:off x="548640" y="5020000"/>
            <a:ext cx="670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latin typeface="Calibri" pitchFamily="34" charset="0"/>
              </a:rPr>
              <a:t>FR14</a:t>
            </a:r>
          </a:p>
        </p:txBody>
      </p:sp>
      <p:sp>
        <p:nvSpPr>
          <p:cNvPr id="26" name="FR14title"/>
          <p:cNvSpPr/>
          <p:nvPr/>
        </p:nvSpPr>
        <p:spPr>
          <a:xfrm>
            <a:off x="1292352" y="4970000"/>
            <a:ext cx="44500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latin typeface="Calibri" pitchFamily="34" charset="0"/>
              </a:rPr>
              <a:t>Export Permission Enforcement</a:t>
            </a:r>
          </a:p>
        </p:txBody>
      </p:sp>
      <p:sp>
        <p:nvSpPr>
          <p:cNvPr id="27" name="FR14desc"/>
          <p:cNvSpPr/>
          <p:nvPr/>
        </p:nvSpPr>
        <p:spPr>
          <a:xfrm>
            <a:off x="1292352" y="5287000"/>
            <a:ext cx="445008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latin typeface="Calibri" pitchFamily="34" charset="0"/>
              </a:rPr>
              <a:t>Restricts data export and system configuration to explicitly authorised roles via RBAC enforcement</a:t>
            </a:r>
          </a:p>
        </p:txBody>
      </p:sp>
      <p:sp>
        <p:nvSpPr>
          <p:cNvPr id="40" name="NFR header"/>
          <p:cNvSpPr/>
          <p:nvPr/>
        </p:nvSpPr>
        <p:spPr>
          <a:xfrm>
            <a:off x="6278880" y="1158240"/>
            <a:ext cx="55473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latin typeface="Calibri" pitchFamily="34" charset="0"/>
              </a:rPr>
              <a:t>Non-Functional Requirements (Remaining)</a:t>
            </a:r>
          </a:p>
        </p:txBody>
      </p:sp>
      <p:sp>
        <p:nvSpPr>
          <p:cNvPr id="44" name="NFR02id"/>
          <p:cNvSpPr/>
          <p:nvPr/>
        </p:nvSpPr>
        <p:spPr>
          <a:xfrm>
            <a:off x="6461760" y="1750000"/>
            <a:ext cx="792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latin typeface="Calibri" pitchFamily="34" charset="0"/>
              </a:rPr>
              <a:t>NFR02</a:t>
            </a:r>
          </a:p>
        </p:txBody>
      </p:sp>
      <p:sp>
        <p:nvSpPr>
          <p:cNvPr id="45" name="NFR02title"/>
          <p:cNvSpPr/>
          <p:nvPr/>
        </p:nvSpPr>
        <p:spPr>
          <a:xfrm>
            <a:off x="7339584" y="1700000"/>
            <a:ext cx="43281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latin typeface="Calibri" pitchFamily="34" charset="0"/>
              </a:rPr>
              <a:t>Availability</a:t>
            </a:r>
          </a:p>
        </p:txBody>
      </p:sp>
      <p:sp>
        <p:nvSpPr>
          <p:cNvPr id="46" name="NFR02desc"/>
          <p:cNvSpPr/>
          <p:nvPr/>
        </p:nvSpPr>
        <p:spPr>
          <a:xfrm>
            <a:off x="7339584" y="2017000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latin typeface="Calibri" pitchFamily="34" charset="0"/>
              </a:rPr>
              <a:t>System shall maintain 99.9% uptime during peak league launch windows — the highest-demand periods for gameplay and microtransactions</a:t>
            </a:r>
          </a:p>
        </p:txBody>
      </p:sp>
      <p:sp>
        <p:nvSpPr>
          <p:cNvPr id="80" name="SummaryBox"/>
          <p:cNvSpPr/>
          <p:nvPr/>
        </p:nvSpPr>
        <p:spPr>
          <a:xfrm>
            <a:off x="6278880" y="2600000"/>
            <a:ext cx="5608320" cy="310000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txBody>
          <a:bodyPr wrap="square" lIns="91440" tIns="91440" rIns="91440" bIns="91440" rtlCol="0" anchor="t"/>
          <a:lstStyle/>
          <a:p>
            <a:r>
              <a:rPr lang="en-US" sz="1333" b="1" dirty="0">
                <a:latin typeface="Calibri" pitchFamily="34" charset="0"/>
              </a:rPr>
              <a:t>Full Requirements Summary</a:t>
            </a:r>
          </a:p>
          <a:p>
            <a:endParaRPr lang="en-US" sz="1067" dirty="0"/>
          </a:p>
          <a:p>
            <a:r>
              <a:rPr lang="en-US" sz="1067" b="1" dirty="0">
                <a:latin typeface="Calibri" pitchFamily="34" charset="0"/>
              </a:rPr>
              <a:t>Functional (14 total):</a:t>
            </a:r>
          </a:p>
          <a:p>
            <a:r>
              <a:rPr lang="en-US" sz="1067" dirty="0">
                <a:latin typeface="Calibri" pitchFamily="34" charset="0"/>
              </a:rPr>
              <a:t>FR01–FR05  Sales Capture &amp; Transaction Tracking</a:t>
            </a:r>
          </a:p>
          <a:p>
            <a:r>
              <a:rPr lang="en-US" sz="1067" dirty="0">
                <a:latin typeface="Calibri" pitchFamily="34" charset="0"/>
              </a:rPr>
              <a:t>FR06–FR08  Player Demographics &amp; Segmentation</a:t>
            </a:r>
          </a:p>
          <a:p>
            <a:r>
              <a:rPr lang="en-US" sz="1067" dirty="0">
                <a:latin typeface="Calibri" pitchFamily="34" charset="0"/>
              </a:rPr>
              <a:t>FR09–FR12  Reporting, Analytics &amp; Export</a:t>
            </a:r>
          </a:p>
          <a:p>
            <a:r>
              <a:rPr lang="en-US" sz="1067" dirty="0">
                <a:latin typeface="Calibri" pitchFamily="34" charset="0"/>
              </a:rPr>
              <a:t>FR13–FR14  Role-Based Access &amp; Security</a:t>
            </a:r>
          </a:p>
          <a:p>
            <a:endParaRPr lang="en-US" sz="1067" dirty="0"/>
          </a:p>
          <a:p>
            <a:r>
              <a:rPr lang="en-US" sz="1067" b="1" dirty="0">
                <a:latin typeface="Calibri" pitchFamily="34" charset="0"/>
              </a:rPr>
              <a:t>Non-Functional (6 total):</a:t>
            </a:r>
          </a:p>
          <a:p>
            <a:r>
              <a:rPr lang="en-US" sz="1067" dirty="0">
                <a:latin typeface="Calibri" pitchFamily="34" charset="0"/>
              </a:rPr>
              <a:t>NFR01  Performance (2s ingestion)</a:t>
            </a:r>
          </a:p>
          <a:p>
            <a:r>
              <a:rPr lang="en-US" sz="1067" dirty="0">
                <a:latin typeface="Calibri" pitchFamily="34" charset="0"/>
              </a:rPr>
              <a:t>NFR02  Availability (99.9% uptime)</a:t>
            </a:r>
          </a:p>
          <a:p>
            <a:r>
              <a:rPr lang="en-US" sz="1067" dirty="0">
                <a:latin typeface="Calibri" pitchFamily="34" charset="0"/>
              </a:rPr>
              <a:t>NFR03  Legal / Privacy (NZ Privacy Act 2020)</a:t>
            </a:r>
          </a:p>
          <a:p>
            <a:r>
              <a:rPr lang="en-US" sz="1067" dirty="0">
                <a:latin typeface="Calibri" pitchFamily="34" charset="0"/>
              </a:rPr>
              <a:t>NFR04  Scalability (50 concurrent users)</a:t>
            </a:r>
          </a:p>
          <a:p>
            <a:r>
              <a:rPr lang="en-US" sz="1067" dirty="0">
                <a:latin typeface="Calibri" pitchFamily="34" charset="0"/>
              </a:rPr>
              <a:t>NFR05  Dashboard Speed (3s / 1M records)</a:t>
            </a:r>
          </a:p>
          <a:p>
            <a:r>
              <a:rPr lang="en-US" sz="1067" dirty="0">
                <a:latin typeface="Calibri" pitchFamily="34" charset="0"/>
              </a:rPr>
              <a:t>NFR06  Usability (no formal training required)</a:t>
            </a:r>
          </a:p>
        </p:txBody>
      </p:sp>
      <p:sp>
        <p:nvSpPr>
          <p:cNvPr id="72" name="Text 70"/>
          <p:cNvSpPr/>
          <p:nvPr/>
        </p:nvSpPr>
        <p:spPr>
          <a:xfrm>
            <a:off x="365760" y="6522720"/>
            <a:ext cx="1146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94A3B8"/>
                </a:solidFill>
                <a:latin typeface="Calibri" pitchFamily="34" charset="0"/>
              </a:rPr>
              <a:t>Suemon Kwok  |  Student ID: 14883335  |  Assignment 1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361E2-C8A0-4A51-9CDD-7C0A669FD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UML Use case diagram (Full 18 use cases)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FBF697-8DF7-170F-C784-78E78BB72B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56" y="1331262"/>
            <a:ext cx="8420630" cy="5115258"/>
          </a:xfrm>
          <a:prstGeom prst="rect">
            <a:avLst/>
          </a:prstGeom>
        </p:spPr>
      </p:pic>
      <p:sp>
        <p:nvSpPr>
          <p:cNvPr id="5" name="Text 70">
            <a:extLst>
              <a:ext uri="{FF2B5EF4-FFF2-40B4-BE49-F238E27FC236}">
                <a16:creationId xmlns:a16="http://schemas.microsoft.com/office/drawing/2014/main" id="{7F5F94C6-A6DD-CC68-28DA-88A981D54E96}"/>
              </a:ext>
            </a:extLst>
          </p:cNvPr>
          <p:cNvSpPr/>
          <p:nvPr/>
        </p:nvSpPr>
        <p:spPr>
          <a:xfrm>
            <a:off x="365760" y="6522720"/>
            <a:ext cx="1146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Suemon Kwok  |  Student ID: 14883335  |  Assignment 1 Presentation</a:t>
            </a:r>
            <a:endParaRPr lang="en-US" sz="1067" dirty="0"/>
          </a:p>
        </p:txBody>
      </p:sp>
    </p:spTree>
    <p:extLst>
      <p:ext uri="{BB962C8B-B14F-4D97-AF65-F5344CB8AC3E}">
        <p14:creationId xmlns:p14="http://schemas.microsoft.com/office/powerpoint/2010/main" val="122018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B3629-1B43-E255-CC41-89129EC53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UML Class Diagram (Full classes )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8B873FB-24A9-7FA5-220D-E430258CE5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896" y="1239844"/>
            <a:ext cx="6894576" cy="560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689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A22FA-0D66-7728-F570-958FE469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Design Decisions / OOP Principles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BC5007-CB4D-AA96-EA00-78BABFC280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4770515"/>
              </p:ext>
            </p:extLst>
          </p:nvPr>
        </p:nvGraphicFramePr>
        <p:xfrm>
          <a:off x="1875662" y="1930400"/>
          <a:ext cx="6200011" cy="39628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17264">
                  <a:extLst>
                    <a:ext uri="{9D8B030D-6E8A-4147-A177-3AD203B41FA5}">
                      <a16:colId xmlns:a16="http://schemas.microsoft.com/office/drawing/2014/main" val="721598473"/>
                    </a:ext>
                  </a:extLst>
                </a:gridCol>
                <a:gridCol w="1717264">
                  <a:extLst>
                    <a:ext uri="{9D8B030D-6E8A-4147-A177-3AD203B41FA5}">
                      <a16:colId xmlns:a16="http://schemas.microsoft.com/office/drawing/2014/main" val="4184210472"/>
                    </a:ext>
                  </a:extLst>
                </a:gridCol>
                <a:gridCol w="2765483">
                  <a:extLst>
                    <a:ext uri="{9D8B030D-6E8A-4147-A177-3AD203B41FA5}">
                      <a16:colId xmlns:a16="http://schemas.microsoft.com/office/drawing/2014/main" val="4236368779"/>
                    </a:ext>
                  </a:extLst>
                </a:gridCol>
              </a:tblGrid>
              <a:tr h="168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UML Class / Interface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C# File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 dirty="0">
                          <a:solidFill>
                            <a:schemeClr val="tx1"/>
                          </a:solidFill>
                          <a:effectLst/>
                        </a:rPr>
                        <a:t>OOP Concept Demonstrated</a:t>
                      </a:r>
                      <a:endParaRPr lang="en-NZ" sz="7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232394"/>
                  </a:ext>
                </a:extLst>
              </a:tr>
              <a:tr h="168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 dirty="0">
                          <a:solidFill>
                            <a:schemeClr val="tx1"/>
                          </a:solidFill>
                          <a:effectLst/>
                        </a:rPr>
                        <a:t>«interface» </a:t>
                      </a:r>
                      <a:r>
                        <a:rPr lang="en-NZ" sz="700" dirty="0" err="1">
                          <a:solidFill>
                            <a:schemeClr val="tx1"/>
                          </a:solidFill>
                          <a:effectLst/>
                        </a:rPr>
                        <a:t>SalesItem</a:t>
                      </a:r>
                      <a:endParaRPr lang="en-NZ" sz="7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Models/ISalesItem.cs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Interface; Dependency Inversion (SOLID)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341782"/>
                  </a:ext>
                </a:extLst>
              </a:tr>
              <a:tr h="270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«abstract» MTXItem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Models/MTXItem.cs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Abstraction; Encapsulation (private _price, _salesCount)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378337"/>
                  </a:ext>
                </a:extLst>
              </a:tr>
              <a:tr h="168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 dirty="0" err="1">
                          <a:solidFill>
                            <a:schemeClr val="tx1"/>
                          </a:solidFill>
                          <a:effectLst/>
                        </a:rPr>
                        <a:t>WeaponSkin</a:t>
                      </a:r>
                      <a:endParaRPr lang="en-NZ" sz="7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Models/MTXItemTypes.cs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Inheritance; Polymorphism via ISalesItem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995363"/>
                  </a:ext>
                </a:extLst>
              </a:tr>
              <a:tr h="168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 dirty="0" err="1">
                          <a:solidFill>
                            <a:schemeClr val="tx1"/>
                          </a:solidFill>
                          <a:effectLst/>
                        </a:rPr>
                        <a:t>ArmourSkin</a:t>
                      </a:r>
                      <a:endParaRPr lang="en-NZ" sz="7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Models/MTXItemTypes.cs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Inheritance; ArmourSlot enum dependency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8378783"/>
                  </a:ext>
                </a:extLst>
              </a:tr>
              <a:tr h="168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PetItem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Models/MTXItemTypes.cs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Inheritance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004257"/>
                  </a:ext>
                </a:extLst>
              </a:tr>
              <a:tr h="168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PortalEffect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 dirty="0">
                          <a:solidFill>
                            <a:schemeClr val="tx1"/>
                          </a:solidFill>
                          <a:effectLst/>
                        </a:rPr>
                        <a:t>Models/</a:t>
                      </a:r>
                      <a:r>
                        <a:rPr lang="en-NZ" sz="700" dirty="0" err="1">
                          <a:solidFill>
                            <a:schemeClr val="tx1"/>
                          </a:solidFill>
                          <a:effectLst/>
                        </a:rPr>
                        <a:t>MTXItemTypes.cs</a:t>
                      </a:r>
                      <a:endParaRPr lang="en-NZ" sz="7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 dirty="0">
                          <a:solidFill>
                            <a:schemeClr val="tx1"/>
                          </a:solidFill>
                          <a:effectLst/>
                        </a:rPr>
                        <a:t>Inheritance</a:t>
                      </a:r>
                      <a:endParaRPr lang="en-NZ" sz="7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562804"/>
                  </a:ext>
                </a:extLst>
              </a:tr>
              <a:tr h="168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HideoutDecoration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Models/MTXItemTypes.cs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Inheritance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019641"/>
                  </a:ext>
                </a:extLst>
              </a:tr>
              <a:tr h="168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StashTabExpansion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Models/MTXItemTypes.cs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Inheritance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228161"/>
                  </a:ext>
                </a:extLst>
              </a:tr>
              <a:tr h="168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Bundle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Models/MTXItemTypes.cs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Inheritance; Composition (List&lt;MTXItem&gt;)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790564"/>
                  </a:ext>
                </a:extLst>
              </a:tr>
              <a:tr h="168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Transaction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 dirty="0">
                          <a:solidFill>
                            <a:schemeClr val="tx1"/>
                          </a:solidFill>
                          <a:effectLst/>
                        </a:rPr>
                        <a:t>Models/</a:t>
                      </a:r>
                      <a:r>
                        <a:rPr lang="en-NZ" sz="700" dirty="0" err="1">
                          <a:solidFill>
                            <a:schemeClr val="tx1"/>
                          </a:solidFill>
                          <a:effectLst/>
                        </a:rPr>
                        <a:t>Transaction.cs</a:t>
                      </a:r>
                      <a:endParaRPr lang="en-NZ" sz="7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Encapsulation; Association; Immutability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004217"/>
                  </a:ext>
                </a:extLst>
              </a:tr>
              <a:tr h="168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DemographicRecord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Models/Transaction.cs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Immutable Value Object; Decoupling pattern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351383"/>
                  </a:ext>
                </a:extLst>
              </a:tr>
              <a:tr h="168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PlayerAccount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Models/PlayerAccount.cs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Encapsulation; HashSet for purchase history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177675"/>
                  </a:ext>
                </a:extLst>
              </a:tr>
              <a:tr h="270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SystemUser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Models/SystemUser.cs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Encapsulation (SHA-256 hash); Principle of Least Privilege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499505"/>
                  </a:ext>
                </a:extLst>
              </a:tr>
              <a:tr h="270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FilterSet / DateRange / Report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Models/ReportModels.cs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Value Objects; Data Transfer Object pattern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433919"/>
                  </a:ext>
                </a:extLst>
              </a:tr>
              <a:tr h="270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«interface» IReportGenerator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Services/IReportGenerator.cs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Interface Segregation; Dependency Inversion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095084"/>
                  </a:ext>
                </a:extLst>
              </a:tr>
              <a:tr h="168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 dirty="0" err="1">
                          <a:solidFill>
                            <a:schemeClr val="tx1"/>
                          </a:solidFill>
                          <a:effectLst/>
                        </a:rPr>
                        <a:t>ReportEngine</a:t>
                      </a:r>
                      <a:endParaRPr lang="en-NZ" sz="7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Services/ReportEngine.cs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Single Responsibility; High Cohesion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782328"/>
                  </a:ext>
                </a:extLst>
              </a:tr>
              <a:tr h="270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TransactionService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Services/TransactionService.cs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Service Layer; Low Coupling via repository interfaces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240899"/>
                  </a:ext>
                </a:extLst>
              </a:tr>
              <a:tr h="168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AuthService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Services/AuthService.cs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 dirty="0">
                          <a:solidFill>
                            <a:schemeClr val="tx1"/>
                          </a:solidFill>
                          <a:effectLst/>
                        </a:rPr>
                        <a:t>Encapsulation; Session management</a:t>
                      </a:r>
                      <a:endParaRPr lang="en-NZ" sz="7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16846"/>
                  </a:ext>
                </a:extLst>
              </a:tr>
              <a:tr h="168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ExportService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>
                          <a:solidFill>
                            <a:schemeClr val="tx1"/>
                          </a:solidFill>
                          <a:effectLst/>
                        </a:rPr>
                        <a:t>Services/ExportService.cs</a:t>
                      </a:r>
                      <a:endParaRPr lang="en-NZ" sz="7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700" dirty="0">
                          <a:solidFill>
                            <a:schemeClr val="tx1"/>
                          </a:solidFill>
                          <a:effectLst/>
                        </a:rPr>
                        <a:t>Single Responsibility; Strategy-like dispatch</a:t>
                      </a:r>
                      <a:endParaRPr lang="en-NZ" sz="7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0627" marR="50627" marT="33752" marB="33752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157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2430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7C66A-5C3E-35DA-C7C6-09DCC0FD8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Demo - Login interface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806057-CB5C-CEFD-8A53-8D17BE2A9F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656" y="2160588"/>
            <a:ext cx="3474725" cy="3881437"/>
          </a:xfrm>
          <a:prstGeom prst="rect">
            <a:avLst/>
          </a:prstGeom>
        </p:spPr>
      </p:pic>
      <p:sp>
        <p:nvSpPr>
          <p:cNvPr id="5" name="Text 70">
            <a:extLst>
              <a:ext uri="{FF2B5EF4-FFF2-40B4-BE49-F238E27FC236}">
                <a16:creationId xmlns:a16="http://schemas.microsoft.com/office/drawing/2014/main" id="{0B4B6C11-D36F-84ED-5C9A-9526B122BBF5}"/>
              </a:ext>
            </a:extLst>
          </p:cNvPr>
          <p:cNvSpPr/>
          <p:nvPr/>
        </p:nvSpPr>
        <p:spPr>
          <a:xfrm>
            <a:off x="365760" y="6522720"/>
            <a:ext cx="1146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Suemon Kwok  |  Student ID: 14883335  |  Assignment 1 Presentation</a:t>
            </a:r>
            <a:endParaRPr lang="en-US" sz="1067" dirty="0"/>
          </a:p>
        </p:txBody>
      </p:sp>
    </p:spTree>
    <p:extLst>
      <p:ext uri="{BB962C8B-B14F-4D97-AF65-F5344CB8AC3E}">
        <p14:creationId xmlns:p14="http://schemas.microsoft.com/office/powerpoint/2010/main" val="3258279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186DE-FC9D-E5BA-F565-F19C7ED6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Demo – Sales Overview</a:t>
            </a:r>
            <a:endParaRPr lang="en-NZ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8B4F30-0FF3-06AC-6CD8-124ABE89D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8037" y="2160588"/>
            <a:ext cx="8135963" cy="3881437"/>
          </a:xfrm>
          <a:prstGeom prst="rect">
            <a:avLst/>
          </a:prstGeom>
        </p:spPr>
      </p:pic>
      <p:sp>
        <p:nvSpPr>
          <p:cNvPr id="5" name="Text 70">
            <a:extLst>
              <a:ext uri="{FF2B5EF4-FFF2-40B4-BE49-F238E27FC236}">
                <a16:creationId xmlns:a16="http://schemas.microsoft.com/office/drawing/2014/main" id="{EC181EBE-A6D7-4A89-1B55-84A97726619D}"/>
              </a:ext>
            </a:extLst>
          </p:cNvPr>
          <p:cNvSpPr/>
          <p:nvPr/>
        </p:nvSpPr>
        <p:spPr>
          <a:xfrm>
            <a:off x="365760" y="6522720"/>
            <a:ext cx="1146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Suemon Kwok  |  Student ID: 14883335  |  Assignment 1 Presentation</a:t>
            </a:r>
            <a:endParaRPr lang="en-US" sz="1067" dirty="0"/>
          </a:p>
        </p:txBody>
      </p:sp>
    </p:spTree>
    <p:extLst>
      <p:ext uri="{BB962C8B-B14F-4D97-AF65-F5344CB8AC3E}">
        <p14:creationId xmlns:p14="http://schemas.microsoft.com/office/powerpoint/2010/main" val="4128041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25AAC-184F-F883-7BB9-587647575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Demo - Demographics</a:t>
            </a:r>
            <a:endParaRPr lang="en-NZ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D137C3-A713-E4E8-FE6F-177228F46D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5437" y="2160588"/>
            <a:ext cx="8321163" cy="3881437"/>
          </a:xfrm>
          <a:prstGeom prst="rect">
            <a:avLst/>
          </a:prstGeom>
        </p:spPr>
      </p:pic>
      <p:sp>
        <p:nvSpPr>
          <p:cNvPr id="5" name="Text 70">
            <a:extLst>
              <a:ext uri="{FF2B5EF4-FFF2-40B4-BE49-F238E27FC236}">
                <a16:creationId xmlns:a16="http://schemas.microsoft.com/office/drawing/2014/main" id="{57CD8DE3-850B-B011-1A86-D777A846B101}"/>
              </a:ext>
            </a:extLst>
          </p:cNvPr>
          <p:cNvSpPr/>
          <p:nvPr/>
        </p:nvSpPr>
        <p:spPr>
          <a:xfrm>
            <a:off x="365760" y="6522720"/>
            <a:ext cx="1146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Suemon Kwok  |  Student ID: 14883335  |  Assignment 1 Presentation</a:t>
            </a:r>
            <a:endParaRPr lang="en-US" sz="1067" dirty="0"/>
          </a:p>
        </p:txBody>
      </p:sp>
    </p:spTree>
    <p:extLst>
      <p:ext uri="{BB962C8B-B14F-4D97-AF65-F5344CB8AC3E}">
        <p14:creationId xmlns:p14="http://schemas.microsoft.com/office/powerpoint/2010/main" val="2271017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F45AA-1680-0C5B-C870-0E4752575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Demo - Revenue trend</a:t>
            </a:r>
            <a:endParaRPr lang="en-NZ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AD4A4E6-D6EA-8E62-F79F-C8FEF43A7B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6386" y="2160588"/>
            <a:ext cx="8119266" cy="3881437"/>
          </a:xfrm>
          <a:prstGeom prst="rect">
            <a:avLst/>
          </a:prstGeom>
        </p:spPr>
      </p:pic>
      <p:sp>
        <p:nvSpPr>
          <p:cNvPr id="5" name="Text 70">
            <a:extLst>
              <a:ext uri="{FF2B5EF4-FFF2-40B4-BE49-F238E27FC236}">
                <a16:creationId xmlns:a16="http://schemas.microsoft.com/office/drawing/2014/main" id="{11A5861A-B7AE-20B0-D712-61E5605234E7}"/>
              </a:ext>
            </a:extLst>
          </p:cNvPr>
          <p:cNvSpPr/>
          <p:nvPr/>
        </p:nvSpPr>
        <p:spPr>
          <a:xfrm>
            <a:off x="365760" y="6522720"/>
            <a:ext cx="1146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Suemon Kwok  |  Student ID: 14883335  |  Assignment 1 Presentation</a:t>
            </a:r>
            <a:endParaRPr lang="en-US" sz="1067" dirty="0"/>
          </a:p>
        </p:txBody>
      </p:sp>
    </p:spTree>
    <p:extLst>
      <p:ext uri="{BB962C8B-B14F-4D97-AF65-F5344CB8AC3E}">
        <p14:creationId xmlns:p14="http://schemas.microsoft.com/office/powerpoint/2010/main" val="2880287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29608-B5AA-7B4E-63DA-B3B12911A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Demo - Underperforming</a:t>
            </a:r>
            <a:endParaRPr lang="en-NZ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7357C71-14D6-679F-B57D-AECE9C254C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386" y="2160588"/>
            <a:ext cx="8119266" cy="3881437"/>
          </a:xfrm>
          <a:prstGeom prst="rect">
            <a:avLst/>
          </a:prstGeom>
        </p:spPr>
      </p:pic>
      <p:sp>
        <p:nvSpPr>
          <p:cNvPr id="5" name="Text 70">
            <a:extLst>
              <a:ext uri="{FF2B5EF4-FFF2-40B4-BE49-F238E27FC236}">
                <a16:creationId xmlns:a16="http://schemas.microsoft.com/office/drawing/2014/main" id="{1EE5FDF8-D00E-37F3-D1CE-20A7B89D4BCA}"/>
              </a:ext>
            </a:extLst>
          </p:cNvPr>
          <p:cNvSpPr/>
          <p:nvPr/>
        </p:nvSpPr>
        <p:spPr>
          <a:xfrm>
            <a:off x="365760" y="6522720"/>
            <a:ext cx="1146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Suemon Kwok  |  Student ID: 14883335  |  Assignment 1 Presentation</a:t>
            </a:r>
            <a:endParaRPr lang="en-US" sz="1067" dirty="0"/>
          </a:p>
        </p:txBody>
      </p:sp>
    </p:spTree>
    <p:extLst>
      <p:ext uri="{BB962C8B-B14F-4D97-AF65-F5344CB8AC3E}">
        <p14:creationId xmlns:p14="http://schemas.microsoft.com/office/powerpoint/2010/main" val="2761918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596B1-828C-C601-444F-51F731AC4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Demo – Manual record</a:t>
            </a:r>
            <a:endParaRPr lang="en-NZ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765793-0D63-E084-0F15-84534370EC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779" y="2381804"/>
            <a:ext cx="3972479" cy="3439005"/>
          </a:xfrm>
          <a:prstGeom prst="rect">
            <a:avLst/>
          </a:prstGeom>
        </p:spPr>
      </p:pic>
      <p:sp>
        <p:nvSpPr>
          <p:cNvPr id="5" name="Text 70">
            <a:extLst>
              <a:ext uri="{FF2B5EF4-FFF2-40B4-BE49-F238E27FC236}">
                <a16:creationId xmlns:a16="http://schemas.microsoft.com/office/drawing/2014/main" id="{BCCC2F45-694C-96D2-AAD5-764B4D20AEFF}"/>
              </a:ext>
            </a:extLst>
          </p:cNvPr>
          <p:cNvSpPr/>
          <p:nvPr/>
        </p:nvSpPr>
        <p:spPr>
          <a:xfrm>
            <a:off x="365760" y="6522720"/>
            <a:ext cx="1146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Suemon Kwok  |  Student ID: 14883335  |  Assignment 1 Presentation</a:t>
            </a:r>
            <a:endParaRPr lang="en-US" sz="1067" dirty="0"/>
          </a:p>
        </p:txBody>
      </p:sp>
    </p:spTree>
    <p:extLst>
      <p:ext uri="{BB962C8B-B14F-4D97-AF65-F5344CB8AC3E}">
        <p14:creationId xmlns:p14="http://schemas.microsoft.com/office/powerpoint/2010/main" val="2028426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AB429-A08D-ECFC-7305-81BA9E91B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Demo - Export formats</a:t>
            </a:r>
            <a:endParaRPr lang="en-NZ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0B54C3-FF88-1863-EF2C-A2905558D3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520" y="2321922"/>
            <a:ext cx="2248214" cy="1638529"/>
          </a:xfrm>
          <a:prstGeom prst="rect">
            <a:avLst/>
          </a:prstGeom>
        </p:spPr>
      </p:pic>
      <p:sp>
        <p:nvSpPr>
          <p:cNvPr id="5" name="Text 70">
            <a:extLst>
              <a:ext uri="{FF2B5EF4-FFF2-40B4-BE49-F238E27FC236}">
                <a16:creationId xmlns:a16="http://schemas.microsoft.com/office/drawing/2014/main" id="{CD4D3E02-975C-EBD8-0550-2CCA08D90FE9}"/>
              </a:ext>
            </a:extLst>
          </p:cNvPr>
          <p:cNvSpPr/>
          <p:nvPr/>
        </p:nvSpPr>
        <p:spPr>
          <a:xfrm>
            <a:off x="365760" y="6522720"/>
            <a:ext cx="114604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Suemon Kwok  |  Student ID: 14883335  |  Assignment 1 Presentation</a:t>
            </a:r>
            <a:endParaRPr lang="en-US" sz="1067" dirty="0"/>
          </a:p>
        </p:txBody>
      </p:sp>
    </p:spTree>
    <p:extLst>
      <p:ext uri="{BB962C8B-B14F-4D97-AF65-F5344CB8AC3E}">
        <p14:creationId xmlns:p14="http://schemas.microsoft.com/office/powerpoint/2010/main" val="716182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3B420-9127-A520-8E93-65E70C33A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84618-5E3F-F7B6-51ED-022C21F07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1648094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250</TotalTime>
  <Words>879</Words>
  <Application>Microsoft Office PowerPoint</Application>
  <PresentationFormat>Widescreen</PresentationFormat>
  <Paragraphs>165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Times New Roman</vt:lpstr>
      <vt:lpstr>Trebuchet MS</vt:lpstr>
      <vt:lpstr>Wingdings 3</vt:lpstr>
      <vt:lpstr>Facet</vt:lpstr>
      <vt:lpstr>Organisation overview</vt:lpstr>
      <vt:lpstr>Business requirement</vt:lpstr>
      <vt:lpstr>PowerPoint Presentation</vt:lpstr>
      <vt:lpstr>PowerPoint Presentation</vt:lpstr>
      <vt:lpstr>UML Use case diagram (Full 18 use cases)</vt:lpstr>
      <vt:lpstr>UML Class Diagram (Full classes ) </vt:lpstr>
      <vt:lpstr>Key Design Decisions / OOP Principles</vt:lpstr>
      <vt:lpstr>Software Demo - Login interface</vt:lpstr>
      <vt:lpstr>Software Demo – Sales Overview</vt:lpstr>
      <vt:lpstr>Software Demo - Demographics</vt:lpstr>
      <vt:lpstr>Software Demo - Revenue trend</vt:lpstr>
      <vt:lpstr>Software Demo - Underperforming</vt:lpstr>
      <vt:lpstr>Software Demo – Manual record</vt:lpstr>
      <vt:lpstr>Software Demo - Export formats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Suemon Kwok</dc:creator>
  <cp:lastModifiedBy>Suemon Kwok</cp:lastModifiedBy>
  <cp:revision>12</cp:revision>
  <dcterms:created xsi:type="dcterms:W3CDTF">2026-04-18T22:01:01Z</dcterms:created>
  <dcterms:modified xsi:type="dcterms:W3CDTF">2026-04-19T02:21:18Z</dcterms:modified>
</cp:coreProperties>
</file>