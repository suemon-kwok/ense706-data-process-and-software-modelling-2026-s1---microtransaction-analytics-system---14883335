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712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9208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31433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5595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12234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4761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5992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1713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9809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6676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3302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13938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4564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35751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20755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8615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D9425-B423-4DEE-A847-701E62A66D2B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D14E324-025D-4906-A5E5-02C9FDC630A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5786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E96BB21-58AA-C45E-50FB-7924258CE7F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273023" y="639113"/>
            <a:ext cx="7571303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Auckland University of Technology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ENSE706 Data Processing and Software modelling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Microtransaction Analytics System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2: Design Patterns &amp; Refined Modelling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Name: Suemon Kwok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Student: 14883335 </a:t>
            </a:r>
          </a:p>
        </p:txBody>
      </p:sp>
    </p:spTree>
    <p:extLst>
      <p:ext uri="{BB962C8B-B14F-4D97-AF65-F5344CB8AC3E}">
        <p14:creationId xmlns:p14="http://schemas.microsoft.com/office/powerpoint/2010/main" val="2489846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5D79A-78A8-80AE-2031-BACDA16FF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Recap: Premise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19B2A-1F68-FAB4-91BB-BE7EBEAC6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: Grind gear games</a:t>
            </a:r>
          </a:p>
          <a:p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 Microtransaction Analytics System (MAS) for Grinding Gear Games (Path of Exile)</a:t>
            </a:r>
          </a:p>
          <a:p>
            <a:endParaRPr lang="en-N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B020F-6C6B-9AAE-A805-E19F4EAD1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73" y="3252845"/>
            <a:ext cx="2535525" cy="26123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B0144C-AB74-6DB2-5AB2-00AA35954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370" y="3562640"/>
            <a:ext cx="2621629" cy="1802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0F6989-A54A-A08C-4D9E-C6FFD8C00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464874" y="3562640"/>
            <a:ext cx="3103989" cy="180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1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D713-6FA0-4D57-72A4-7A85A9396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Recap: What Was Built</a:t>
            </a:r>
            <a:endParaRPr lang="en-N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5C17A-4A63-59F9-4966-C632FF238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43" y="1364012"/>
            <a:ext cx="8833449" cy="387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355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87996-1F75-1351-71C9-764CA7CD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Weaknesses </a:t>
            </a:r>
            <a:b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(Why Phase 2 Was Needed)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DDD1CF-557B-20D2-7790-F534524972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5440" y="2122537"/>
            <a:ext cx="932515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ExportService.cs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418 lines, all format logic in one switch block which violated Open/Closed Principle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AuthService.cs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bundled session management AND data seeding which violated Single Responsibility Principle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SeedData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 direct new() calls across 7 concrete item types caused tight coupling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No audit logging pathway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No formal export interface </a:t>
            </a:r>
          </a:p>
        </p:txBody>
      </p:sp>
    </p:spTree>
    <p:extLst>
      <p:ext uri="{BB962C8B-B14F-4D97-AF65-F5344CB8AC3E}">
        <p14:creationId xmlns:p14="http://schemas.microsoft.com/office/powerpoint/2010/main" val="3305997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EB8C-766A-6443-3DB0-249FE882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Class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5D36E-4900-99FE-4CCF-072C26FD1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66" y="1760995"/>
            <a:ext cx="4684970" cy="385787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C8F2CBB-6704-A790-8DED-F74A925D40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3410" y="1772522"/>
            <a:ext cx="501557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27 classes: item hierarchy, transaction domain, player model, service layer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Key weaknesses visible in structure: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ExportService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no interface, all formats embedded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mixed responsibilities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No factory, no decorator, no adapter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134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A4FB-17C5-0672-203C-9433A1A6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Refined Class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AD950-FFBF-E362-1667-A81D46C01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909" y="1451122"/>
            <a:ext cx="5667554" cy="271301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14070984-36E6-3A97-60B6-B0F9E2AC41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3669" y="1346177"/>
            <a:ext cx="416173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Added: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IExportStrategy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interface + 3 concrete strategies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Added: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MTXItemFactory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(dedicated creator class)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Added: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Singleton (sealed, private constructor)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Added: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LoggingReportEngineDecorator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wrapping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IReportGenerator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Added: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LegacyExportServiceAdapter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bridging old and new export API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ExportService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now a pure context class (86 lines, down from 418) </a:t>
            </a:r>
          </a:p>
        </p:txBody>
      </p:sp>
    </p:spTree>
    <p:extLst>
      <p:ext uri="{BB962C8B-B14F-4D97-AF65-F5344CB8AC3E}">
        <p14:creationId xmlns:p14="http://schemas.microsoft.com/office/powerpoint/2010/main" val="655748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5633-DFE4-FD30-CCF5-B61188D0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</a:t>
            </a:r>
            <a:r>
              <a:rPr lang="en-NZ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GoF</a:t>
            </a:r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Patterns Applied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785C1F-A78E-C6DE-9285-ABC2D94E3F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4569422"/>
              </p:ext>
            </p:extLst>
          </p:nvPr>
        </p:nvGraphicFramePr>
        <p:xfrm>
          <a:off x="600225" y="1413315"/>
          <a:ext cx="8596311" cy="411480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2513864706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61710463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318537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N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 Problem Solved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814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N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Behavioural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ExportService</a:t>
                      </a:r>
                      <a:r>
                        <a:rPr lang="en-N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switch block (OCP violation / Open/Closed principle)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151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N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Factory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scattered new() item calls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416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AuthService instances possible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073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N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Legacy export API (Application Programming Interface) incompatible with new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908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Decorator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audit logging without modifying </a:t>
                      </a:r>
                      <a:r>
                        <a:rPr lang="en-NZ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ReportEngine</a:t>
                      </a:r>
                      <a:endParaRPr lang="en-N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221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105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33566-D66D-4614-5907-C9A0E5951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Deep Dive: Strategy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44EB7B-19CC-56C3-9C67-236FAE95EC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561820"/>
            <a:ext cx="355823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Problem: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ExportService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had CSV, PDF, JSON as private methods in a switch block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Adding a new format = editing existing working code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Solution: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IExportStrategy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interface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CsvExportStrategy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PdfExportStrategy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JsonExportStrategy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ExportService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shrank from 418 to 86 lines (79% reduction)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Adding XML export now = one new file, zero changes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ExportService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AE7FA5-EBCD-C998-E052-C60E4C3C8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570" y="1561820"/>
            <a:ext cx="5210355" cy="376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196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73E57-B1C4-4860-1F6E-8319DB145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Deep Dive: Singleton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4BBF8B-0374-2E12-D2D9-8AF7EDE154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3019" y="1897054"/>
            <a:ext cx="764529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Problem: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CurrentUser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session state, there nothing stopped a second instance being created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Solution: sealed class, private constructor,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GetInstance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with Lazy&lt;T&gt; for thread safety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All callers use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AuthService.GetInstance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which guaranteed same instance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Trade-off: static instance persists across unit tests (test-order dependency) </a:t>
            </a:r>
          </a:p>
        </p:txBody>
      </p:sp>
    </p:spTree>
    <p:extLst>
      <p:ext uri="{BB962C8B-B14F-4D97-AF65-F5344CB8AC3E}">
        <p14:creationId xmlns:p14="http://schemas.microsoft.com/office/powerpoint/2010/main" val="219349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729A34-FC70-872E-A904-D11A156E6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130" y="1414731"/>
            <a:ext cx="5871044" cy="4466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17552A-4C22-1070-7B72-E2B285BBB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1: Export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9A9-202D-3642-960D-20CC35301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266" y="1414731"/>
            <a:ext cx="2419549" cy="4175186"/>
          </a:xfrm>
        </p:spPr>
        <p:txBody>
          <a:bodyPr>
            <a:normAutofit/>
          </a:bodyPr>
          <a:lstStyle/>
          <a:p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1 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Export Report which shows Strategy delegation at runtime (UC12)</a:t>
            </a:r>
            <a:b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N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ExportService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calling Export() on the </a:t>
            </a:r>
            <a:r>
              <a:rPr lang="en-N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IExportStrategy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 - it never touches CSV logic directly.</a:t>
            </a:r>
          </a:p>
        </p:txBody>
      </p:sp>
    </p:spTree>
    <p:extLst>
      <p:ext uri="{BB962C8B-B14F-4D97-AF65-F5344CB8AC3E}">
        <p14:creationId xmlns:p14="http://schemas.microsoft.com/office/powerpoint/2010/main" val="2422276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D23D-F1CF-9021-ACC5-7CE39B1EB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2: Authenticate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212E6-32E3-4CBA-AB1F-733FAB21F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37" y="1437612"/>
            <a:ext cx="2548945" cy="3880773"/>
          </a:xfrm>
        </p:spPr>
        <p:txBody>
          <a:bodyPr/>
          <a:lstStyle/>
          <a:p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2 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Authenticate User shows </a:t>
            </a:r>
            <a:r>
              <a:rPr lang="en-N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GetInstance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enforcement, SHA-256, RBAC loading (UC13)</a:t>
            </a:r>
          </a:p>
          <a:p>
            <a:endParaRPr lang="en-N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N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LoginForm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calling </a:t>
            </a:r>
            <a:r>
              <a:rPr lang="en-N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GetInstance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rather than new </a:t>
            </a:r>
            <a:r>
              <a:rPr lang="en-N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CE25C-141B-9893-32B5-1E087ABAA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64" y="1437612"/>
            <a:ext cx="5064759" cy="433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3E5E-BF43-CFEF-FC03-C86E08F13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3: Create MTX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27827-28B2-412D-BC83-FA819587F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289" y="1486530"/>
            <a:ext cx="3333949" cy="3880773"/>
          </a:xfrm>
        </p:spPr>
        <p:txBody>
          <a:bodyPr>
            <a:normAutofit/>
          </a:bodyPr>
          <a:lstStyle/>
          <a:p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3 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 MTX Items which shows Factory Method loop, </a:t>
            </a:r>
            <a:r>
              <a:rPr lang="en-N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ISalesItem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 typing</a:t>
            </a:r>
          </a:p>
          <a:p>
            <a:endParaRPr lang="en-N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seeding loop calling </a:t>
            </a:r>
            <a:r>
              <a:rPr lang="en-N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MTXItemFactory.Create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and receiving an </a:t>
            </a:r>
            <a:r>
              <a:rPr lang="en-N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MTXItem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 where </a:t>
            </a:r>
            <a:r>
              <a:rPr lang="en-N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Program.cs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never sees a </a:t>
            </a:r>
            <a:r>
              <a:rPr lang="en-N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WeaponSkin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N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PetItem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45661-8704-B5BF-B2B7-E928E7D21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927" y="1486530"/>
            <a:ext cx="4707373" cy="406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26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49FF-2CE6-AB06-34EC-C822CA941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vs After: Key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7F0F5D2-05DE-38CC-42FB-35194316000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33587967"/>
                  </p:ext>
                </p:extLst>
              </p:nvPr>
            </p:nvGraphicFramePr>
            <p:xfrm>
              <a:off x="677863" y="2409666"/>
              <a:ext cx="8596311" cy="3498723"/>
            </p:xfrm>
            <a:graphic>
              <a:graphicData uri="http://schemas.openxmlformats.org/drawingml/2006/table">
                <a:tbl>
                  <a:tblPr/>
                  <a:tblGrid>
                    <a:gridCol w="2865437">
                      <a:extLst>
                        <a:ext uri="{9D8B030D-6E8A-4147-A177-3AD203B41FA5}">
                          <a16:colId xmlns:a16="http://schemas.microsoft.com/office/drawing/2014/main" val="1380395533"/>
                        </a:ext>
                      </a:extLst>
                    </a:gridCol>
                    <a:gridCol w="2865437">
                      <a:extLst>
                        <a:ext uri="{9D8B030D-6E8A-4147-A177-3AD203B41FA5}">
                          <a16:colId xmlns:a16="http://schemas.microsoft.com/office/drawing/2014/main" val="1045287667"/>
                        </a:ext>
                      </a:extLst>
                    </a:gridCol>
                    <a:gridCol w="2865437">
                      <a:extLst>
                        <a:ext uri="{9D8B030D-6E8A-4147-A177-3AD203B41FA5}">
                          <a16:colId xmlns:a16="http://schemas.microsoft.com/office/drawing/2014/main" val="44768816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Phase 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Phase 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67045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Service files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672276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ExportService.cs lines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 dirty="0">
                              <a:highlight>
                                <a:srgbClr val="00FF00"/>
                              </a:highlight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86(79% reduction)=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NZ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NZ" b="0" i="1" smtClean="0">
                                      <a:latin typeface="Cambria Math" panose="02040503050406030204" pitchFamily="18" charset="0"/>
                                    </a:rPr>
                                    <m:t>418−86</m:t>
                                  </m:r>
                                </m:num>
                                <m:den>
                                  <m:r>
                                    <a:rPr lang="en-NZ" b="0" i="1" smtClean="0">
                                      <a:latin typeface="Cambria Math" panose="02040503050406030204" pitchFamily="18" charset="0"/>
                                    </a:rPr>
                                    <m:t>418</m:t>
                                  </m:r>
                                </m:den>
                              </m:f>
                            </m:oMath>
                          </a14:m>
                          <a:endParaRPr lang="en-NZ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24194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Direct new() item calls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 scattered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Centralised in MTXItemFactory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50717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Interfaces in service layer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8803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NZ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Audit logging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None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LoggingReportEngineDecorator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109196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AuthService instances possible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Unlimited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Enforced: 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1939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7F0F5D2-05DE-38CC-42FB-35194316000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33587967"/>
                  </p:ext>
                </p:extLst>
              </p:nvPr>
            </p:nvGraphicFramePr>
            <p:xfrm>
              <a:off x="677863" y="2409666"/>
              <a:ext cx="8596311" cy="3498723"/>
            </p:xfrm>
            <a:graphic>
              <a:graphicData uri="http://schemas.openxmlformats.org/drawingml/2006/table">
                <a:tbl>
                  <a:tblPr/>
                  <a:tblGrid>
                    <a:gridCol w="2865437">
                      <a:extLst>
                        <a:ext uri="{9D8B030D-6E8A-4147-A177-3AD203B41FA5}">
                          <a16:colId xmlns:a16="http://schemas.microsoft.com/office/drawing/2014/main" val="1380395533"/>
                        </a:ext>
                      </a:extLst>
                    </a:gridCol>
                    <a:gridCol w="2865437">
                      <a:extLst>
                        <a:ext uri="{9D8B030D-6E8A-4147-A177-3AD203B41FA5}">
                          <a16:colId xmlns:a16="http://schemas.microsoft.com/office/drawing/2014/main" val="1045287667"/>
                        </a:ext>
                      </a:extLst>
                    </a:gridCol>
                    <a:gridCol w="2865437">
                      <a:extLst>
                        <a:ext uri="{9D8B030D-6E8A-4147-A177-3AD203B41FA5}">
                          <a16:colId xmlns:a16="http://schemas.microsoft.com/office/drawing/2014/main" val="44768816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Phase 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Phase 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670450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Service files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6722764"/>
                      </a:ext>
                    </a:extLst>
                  </a:tr>
                  <a:tr h="481203"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ExportService.cs lines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200213" t="-158228" b="-494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241942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Direct new() item calls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 scattered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Centralised in MTXItemFactory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50717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Interfaces in service layer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88033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NZ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Audit logging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None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LoggingReportEngineDecorator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109196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AuthService instances possible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Unlimited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NZ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Enforced: 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19392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43180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A13C9-1EB2-B47D-F4AD-82A3A54F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Reflection: Trade-offs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05A35E-E237-12E3-B99B-BEF430E387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018" y="1590560"/>
            <a:ext cx="77593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Strategy: call chain harder to trace for new developers (one-time learning cost)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Singleton: test-order dependency which the static instance persists across unit tests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Adapter: risk of becoming permanent rather than transitional which needs an explicit removal plan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Decorator: stacking order affects log content, it must be documented, not enforced by type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Overall: pattern application increases file count but reduces per-class complexity </a:t>
            </a:r>
          </a:p>
        </p:txBody>
      </p:sp>
    </p:spTree>
    <p:extLst>
      <p:ext uri="{BB962C8B-B14F-4D97-AF65-F5344CB8AC3E}">
        <p14:creationId xmlns:p14="http://schemas.microsoft.com/office/powerpoint/2010/main" val="501630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E4DD-4AE9-AC9B-1964-F1AD9A504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F642F0-93AC-F58E-9F40-7B4811723B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1061" y="1584948"/>
            <a:ext cx="820921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In-memory persistence: data lost on close (repository interface ready for SQL swap-in)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Single-user session: conflicts with NFR04 (50 concurrent users) this needs session-token model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WinForms: Windows only needs service/model layers are platform-agnostic, ASP.NET migration feasible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-SHA-256 without salt: vulnerable to rainbow tables which need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/PBKDF2 (</a:t>
            </a:r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password‑hashing algorithms)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needed for production </a:t>
            </a:r>
          </a:p>
        </p:txBody>
      </p:sp>
    </p:spTree>
    <p:extLst>
      <p:ext uri="{BB962C8B-B14F-4D97-AF65-F5344CB8AC3E}">
        <p14:creationId xmlns:p14="http://schemas.microsoft.com/office/powerpoint/2010/main" val="437954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E95E7-26A5-2F54-3A77-67D1DBB6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AE753C-EC77-80CF-84BD-20268F4DED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128" y="1443841"/>
            <a:ext cx="700063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- 5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patterns applied, each resolving a documented Phase 1 weakness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ExportService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418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86 lines via Strategy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Item creation centralized via Factory Method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Session integrity enforced via Singleton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Legacy API bridged via Adapter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Audit logging added via Decorator; zero changes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ReportEngine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UML and C# kept in sync throughout </a:t>
            </a:r>
          </a:p>
        </p:txBody>
      </p:sp>
    </p:spTree>
    <p:extLst>
      <p:ext uri="{BB962C8B-B14F-4D97-AF65-F5344CB8AC3E}">
        <p14:creationId xmlns:p14="http://schemas.microsoft.com/office/powerpoint/2010/main" val="154469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C9CD-EBC3-95F8-7790-8765774CE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ABC19-B08F-0334-4D46-FF424C148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N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4A6E84-C7C9-BD0B-D086-94940BFC48F9}"/>
              </a:ext>
            </a:extLst>
          </p:cNvPr>
          <p:cNvSpPr txBox="1">
            <a:spLocks/>
          </p:cNvSpPr>
          <p:nvPr/>
        </p:nvSpPr>
        <p:spPr>
          <a:xfrm>
            <a:off x="752096" y="5435752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NZ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GitHub: https://github.com/Suemon-Kwok/ENSE706-Data-Process-and-Software-Modelling-2026-S1---Microtransaction-Analytics-System---14883335</a:t>
            </a:r>
            <a:endParaRPr lang="en-NZ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3786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311</TotalTime>
  <Words>866</Words>
  <Application>Microsoft Office PowerPoint</Application>
  <PresentationFormat>Widescreen</PresentationFormat>
  <Paragraphs>147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Cambria Math</vt:lpstr>
      <vt:lpstr>Times New Roman</vt:lpstr>
      <vt:lpstr>Trebuchet MS</vt:lpstr>
      <vt:lpstr>Wingdings 3</vt:lpstr>
      <vt:lpstr>Facet</vt:lpstr>
      <vt:lpstr>Auckland University of Technology  ENSE706 Data Processing and Software modelling  Microtransaction Analytics System   Phase 2: Design Patterns &amp; Refined Modelling   Name: Suemon Kwok   Student: 14883335 </vt:lpstr>
      <vt:lpstr>Phase 1 Recap: Premise</vt:lpstr>
      <vt:lpstr>Phase 1 Recap: What Was Built</vt:lpstr>
      <vt:lpstr>Phase 1 Weaknesses  (Why Phase 2 Was Needed)</vt:lpstr>
      <vt:lpstr>Phase 1 Class Diagram</vt:lpstr>
      <vt:lpstr>Refined Class Diagram</vt:lpstr>
      <vt:lpstr>Five GoF Patterns Applied</vt:lpstr>
      <vt:lpstr>Pattern Deep Dive: Strategy</vt:lpstr>
      <vt:lpstr>Pattern Deep Dive: Singleton</vt:lpstr>
      <vt:lpstr>Sequence Diagram 1: Export Report</vt:lpstr>
      <vt:lpstr>Sequence Diagram 2: Authenticate User</vt:lpstr>
      <vt:lpstr>Sequence Diagram 3: Create MTX Items</vt:lpstr>
      <vt:lpstr>Before vs After: Key Metrics</vt:lpstr>
      <vt:lpstr>Critical Reflection: Trade-offs</vt:lpstr>
      <vt:lpstr>Limitations &amp; Future Work</vt:lpstr>
      <vt:lpstr>Conclusion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Suemon Kwok</dc:creator>
  <cp:lastModifiedBy>Suemon Kwok</cp:lastModifiedBy>
  <cp:revision>15</cp:revision>
  <dcterms:created xsi:type="dcterms:W3CDTF">2026-05-28T00:40:21Z</dcterms:created>
  <dcterms:modified xsi:type="dcterms:W3CDTF">2026-05-30T08:48:10Z</dcterms:modified>
</cp:coreProperties>
</file>